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6529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AI-Driven SDLC • GitHub Spec Kit</a:t>
            </a:r>
            <a:endParaRPr lang="en-US" sz="11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731520"/>
            <a:ext cx="11091672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822960"/>
            <a:ext cx="4206240" cy="4206240"/>
          </a:xfrm>
          <a:prstGeom prst="ellipse">
            <a:avLst/>
          </a:prstGeom>
          <a:solidFill>
            <a:schemeClr val="accent1">
              <a:alpha val="70000"/>
            </a:schemeClr>
          </a:solidFill>
          <a:ln w="6350">
            <a:solidFill>
              <a:schemeClr val="accent1">
                <a:alpha val="70000"/>
              </a:scheme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3291840"/>
            <a:ext cx="2926080" cy="2926080"/>
          </a:xfrm>
          <a:prstGeom prst="ellipse">
            <a:avLst/>
          </a:prstGeom>
          <a:solidFill>
            <a:schemeClr val="accent6">
              <a:alpha val="65000"/>
            </a:schemeClr>
          </a:solidFill>
          <a:ln w="6350">
            <a:solidFill>
              <a:schemeClr val="accent6">
                <a:alpha val="65000"/>
              </a:scheme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4297680"/>
            <a:ext cx="2103120" cy="2103120"/>
          </a:xfrm>
          <a:prstGeom prst="ellipse">
            <a:avLst/>
          </a:prstGeom>
          <a:solidFill>
            <a:schemeClr val="accent3">
              <a:alpha val="75000"/>
            </a:schemeClr>
          </a:solidFill>
          <a:ln w="6350">
            <a:solidFill>
              <a:schemeClr val="accent3">
                <a:alpha val="75000"/>
              </a:scheme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0" y="640080"/>
            <a:ext cx="640080" cy="640080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188720"/>
            <a:ext cx="3383280" cy="38404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1887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chemeClr val="tx1"/>
                </a:solidFill>
              </a:rPr>
              <a:t>AI-DRIVEN SDLC • GITHUB SPEC KIT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2024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chemeClr val="bg1"/>
                </a:solidFill>
              </a:rPr>
              <a:t>FROM CODE ASSISTANCE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22D3EE"/>
                </a:solidFill>
              </a:rPr>
              <a:t>TO AI-DRIVEN SDLC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0690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bg2"/>
                </a:solidFill>
              </a:rPr>
              <a:t>Why structured, spec-driven development matters when AI starts writing the software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402336"/>
            <a:ext cx="201168" cy="201168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01400" y="402336"/>
            <a:ext cx="201168" cy="20116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75720" y="402336"/>
            <a:ext cx="201168" cy="201168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5" name="Tag pill"/>
          <p:cNvSpPr/>
          <p:nvPr/>
        </p:nvSpPr>
        <p:spPr>
          <a:xfrm>
            <a:off x="548640" y="347472"/>
            <a:ext cx="1371600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4747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chemeClr val="bg1"/>
                </a:solidFill>
              </a:rPr>
              <a:t>CONTEXT</a:t>
            </a:r>
            <a:endParaRPr lang="en-US" sz="1100" dirty="0"/>
          </a:p>
        </p:txBody>
      </p:sp>
      <p:sp>
        <p:nvSpPr>
          <p:cNvPr id="7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7315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Software development did not jump directly to agents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AI assistance evolved in layers. Each layer increased both capability and responsibility.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2011680" cy="2926080"/>
          </a:xfrm>
          <a:prstGeom prst="roundRect">
            <a:avLst>
              <a:gd name="adj" fmla="val 6818"/>
            </a:avLst>
          </a:prstGeom>
          <a:solidFill>
            <a:schemeClr val="bg1"/>
          </a:solidFill>
          <a:ln w="25400">
            <a:solidFill>
              <a:schemeClr val="accent3"/>
            </a:solidFill>
            <a:prstDash val="solid"/>
          </a:ln>
          <a:effectLst>
            <a:outerShdw blurRad="127000" dist="38100" dir="5400000" algn="bl" rotWithShape="0">
              <a:srgbClr val="1E1B6B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3401568"/>
            <a:ext cx="502920" cy="502920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3401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4069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IDE Autofill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45262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Syntax + snippets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50749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Completes known patterns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818638" y="2926080"/>
            <a:ext cx="2011680" cy="3200400"/>
          </a:xfrm>
          <a:prstGeom prst="roundRect">
            <a:avLst>
              <a:gd name="adj" fmla="val 6818"/>
            </a:avLst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  <a:effectLst>
            <a:outerShdw blurRad="127000" dist="38100" dir="5400000" algn="bl" rotWithShape="0">
              <a:srgbClr val="1E1B6B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019806" y="3127248"/>
            <a:ext cx="502920" cy="50292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019806" y="3127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3019806" y="3794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AI Completion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3019806" y="4251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Lines + blocks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019806" y="48006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Predicts code from context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88636" y="2651760"/>
            <a:ext cx="2011680" cy="3474720"/>
          </a:xfrm>
          <a:prstGeom prst="roundRect">
            <a:avLst>
              <a:gd name="adj" fmla="val 6818"/>
            </a:avLst>
          </a:prstGeom>
          <a:solidFill>
            <a:schemeClr val="bg1"/>
          </a:solidFill>
          <a:ln w="25400">
            <a:solidFill>
              <a:schemeClr val="accent4"/>
            </a:solidFill>
            <a:prstDash val="solid"/>
          </a:ln>
          <a:effectLst>
            <a:outerShdw blurRad="127000" dist="38100" dir="5400000" algn="bl" rotWithShape="0">
              <a:srgbClr val="1E1B6B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289804" y="2852928"/>
            <a:ext cx="502920" cy="50292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289804" y="2852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5289804" y="3520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Chat Assistant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5289804" y="3977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Ask + answer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289804" y="45262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Explains / generates functions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358634" y="2377440"/>
            <a:ext cx="2011680" cy="3749040"/>
          </a:xfrm>
          <a:prstGeom prst="roundRect">
            <a:avLst>
              <a:gd name="adj" fmla="val 6818"/>
            </a:avLst>
          </a:prstGeom>
          <a:solidFill>
            <a:schemeClr val="bg1"/>
          </a:solidFill>
          <a:ln w="25400">
            <a:solidFill>
              <a:schemeClr val="accent6"/>
            </a:solidFill>
            <a:prstDash val="solid"/>
          </a:ln>
          <a:effectLst>
            <a:outerShdw blurRad="127000" dist="38100" dir="5400000" algn="bl" rotWithShape="0">
              <a:srgbClr val="1E1B6B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559802" y="2578608"/>
            <a:ext cx="502920" cy="50292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559802" y="2578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7559802" y="3246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Code Assistant</a:t>
            </a:r>
            <a:endParaRPr lang="en-US" sz="1900" dirty="0"/>
          </a:p>
        </p:txBody>
      </p:sp>
      <p:sp>
        <p:nvSpPr>
          <p:cNvPr id="31" name="Text 29"/>
          <p:cNvSpPr txBox="1"/>
          <p:nvPr/>
        </p:nvSpPr>
        <p:spPr>
          <a:xfrm>
            <a:off x="7559802" y="3703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Repo-aware agent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559802" y="42519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Reads, edits, runs, tests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628632" y="2103120"/>
            <a:ext cx="2011680" cy="4023360"/>
          </a:xfrm>
          <a:prstGeom prst="roundRect">
            <a:avLst>
              <a:gd name="adj" fmla="val 6818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  <a:effectLst>
            <a:outerShdw blurRad="127000" dist="38100" dir="5400000" algn="bl" rotWithShape="0">
              <a:srgbClr val="1E1B6B">
                <a:alpha val="14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829800" y="2304288"/>
            <a:ext cx="502920" cy="50292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829800" y="2304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9829800" y="2304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</a:rPr>
              <a:t>5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9829800" y="2971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AI-SDLC</a:t>
            </a:r>
            <a:endParaRPr lang="en-US" sz="1900" dirty="0"/>
          </a:p>
        </p:txBody>
      </p:sp>
      <p:sp>
        <p:nvSpPr>
          <p:cNvPr id="38" name="Text 36"/>
          <p:cNvSpPr txBox="1"/>
          <p:nvPr/>
        </p:nvSpPr>
        <p:spPr>
          <a:xfrm>
            <a:off x="9829800" y="3429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Governed process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9829800" y="39776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Intent → artifacts → code</a:t>
            </a:r>
            <a:endParaRPr lang="en-US" sz="14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402336"/>
            <a:ext cx="201168" cy="201168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01400" y="402336"/>
            <a:ext cx="201168" cy="20116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75720" y="402336"/>
            <a:ext cx="201168" cy="201168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5" name="Tag pill"/>
          <p:cNvSpPr/>
          <p:nvPr/>
        </p:nvSpPr>
        <p:spPr>
          <a:xfrm>
            <a:off x="548640" y="347472"/>
            <a:ext cx="1371600" cy="31089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4747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chemeClr val="bg1"/>
                </a:solidFill>
              </a:rPr>
              <a:t>RISK</a:t>
            </a:r>
            <a:endParaRPr lang="en-US" sz="1100" dirty="0"/>
          </a:p>
        </p:txBody>
      </p:sp>
      <p:sp>
        <p:nvSpPr>
          <p:cNvPr id="7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7315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The trap: agentic capability without process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A powerful coding agent can still build the wrong thing very efficiently.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3383280" cy="301752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blurRad="127000" dist="38100" dir="5400000" algn="bl" rotWithShape="0">
              <a:srgbClr val="1E1B6B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02836" y="2194560"/>
            <a:ext cx="3383280" cy="301752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blurRad="127000" dist="38100" dir="5400000" algn="bl" rotWithShape="0">
              <a:srgbClr val="1E1B6B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57032" y="2194560"/>
            <a:ext cx="3383280" cy="301752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blurRad="127000" dist="38100" dir="5400000" algn="bl" rotWithShape="0">
              <a:srgbClr val="1E1B6B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2468880"/>
            <a:ext cx="594360" cy="59436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2617470"/>
            <a:ext cx="297180" cy="2971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554480" y="24688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Prompt → Code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32918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i="1" dirty="0">
                <a:solidFill>
                  <a:schemeClr val="accent6"/>
                </a:solidFill>
              </a:rPr>
              <a:t>“Build an expense app.”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384048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The agent chooses assumptions, architecture, behavior and implementation details while coding.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677156" y="2468880"/>
            <a:ext cx="594360" cy="594360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5746" y="2617470"/>
            <a:ext cx="297180" cy="29718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408676" y="24688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Looks productive</a:t>
            </a:r>
            <a:endParaRPr lang="en-US" sz="2000" dirty="0"/>
          </a:p>
        </p:txBody>
      </p:sp>
      <p:sp>
        <p:nvSpPr>
          <p:cNvPr id="20" name="Text 16"/>
          <p:cNvSpPr txBox="1"/>
          <p:nvPr/>
        </p:nvSpPr>
        <p:spPr>
          <a:xfrm>
            <a:off x="4677156" y="3291840"/>
            <a:ext cx="2834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UI appears quickly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APIs compile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Demo works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Lots of code generated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8531352" y="2468880"/>
            <a:ext cx="594360" cy="59436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9942" y="2617470"/>
            <a:ext cx="297180" cy="29718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9262872" y="24688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But what is missing?</a:t>
            </a:r>
            <a:endParaRPr lang="en-US" sz="2000" dirty="0"/>
          </a:p>
        </p:txBody>
      </p:sp>
      <p:sp>
        <p:nvSpPr>
          <p:cNvPr id="24" name="Text 19"/>
          <p:cNvSpPr txBox="1"/>
          <p:nvPr/>
        </p:nvSpPr>
        <p:spPr>
          <a:xfrm>
            <a:off x="8531352" y="329184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Approved requirements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Traceable decisions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Quality gates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Consistent constraints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Proof that code matches intent</a:t>
            </a:r>
            <a:endParaRPr lang="en-US" sz="1500" dirty="0"/>
          </a:p>
        </p:txBody>
      </p:sp>
      <p:sp>
        <p:nvSpPr>
          <p:cNvPr id="25" name="Shape 20"/>
          <p:cNvSpPr/>
          <p:nvPr/>
        </p:nvSpPr>
        <p:spPr>
          <a:xfrm>
            <a:off x="4023360" y="3520440"/>
            <a:ext cx="288036" cy="365760"/>
          </a:xfrm>
          <a:prstGeom prst="rightArrow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877556" y="3520440"/>
            <a:ext cx="288036" cy="365760"/>
          </a:xfrm>
          <a:prstGeom prst="rightArrow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48640" y="5577840"/>
            <a:ext cx="11091672" cy="64008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  <a:effectLst>
            <a:outerShdw blurRad="127000" dist="38100" dir="5400000" algn="bl" rotWithShape="0">
              <a:srgbClr val="1E1B6B">
                <a:alpha val="14000"/>
              </a:srgbClr>
            </a:outerShdw>
          </a:effectLst>
        </p:spPr>
      </p:sp>
      <p:sp>
        <p:nvSpPr>
          <p:cNvPr id="28" name="Text 23"/>
          <p:cNvSpPr txBox="1"/>
          <p:nvPr/>
        </p:nvSpPr>
        <p:spPr>
          <a:xfrm>
            <a:off x="822960" y="557784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This is where “vibe coding” becomes risky for enterprise software.</a:t>
            </a:r>
            <a:endParaRPr lang="en-US" sz="18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402336"/>
            <a:ext cx="201168" cy="201168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01400" y="402336"/>
            <a:ext cx="201168" cy="20116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75720" y="402336"/>
            <a:ext cx="201168" cy="201168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5" name="Tag pill"/>
          <p:cNvSpPr/>
          <p:nvPr/>
        </p:nvSpPr>
        <p:spPr>
          <a:xfrm>
            <a:off x="548640" y="347472"/>
            <a:ext cx="146304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4747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chemeClr val="bg1"/>
                </a:solidFill>
              </a:rPr>
              <a:t>TRANSITION</a:t>
            </a:r>
            <a:endParaRPr lang="en-US" sz="1100" dirty="0"/>
          </a:p>
        </p:txBody>
      </p:sp>
      <p:sp>
        <p:nvSpPr>
          <p:cNvPr id="7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7315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Vibe coding vs AI-Driven SDLC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The difference is not whether AI writes code. The difference is whether intent and engineering decisions are governed.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5394960" cy="3931920"/>
          </a:xfrm>
          <a:prstGeom prst="roundRect">
            <a:avLst>
              <a:gd name="adj" fmla="val 3488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blurRad="127000" dist="38100" dir="5400000" algn="bl" rotWithShape="0">
              <a:srgbClr val="1E1B6B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194560"/>
            <a:ext cx="5394960" cy="640080"/>
          </a:xfrm>
          <a:prstGeom prst="roundRect">
            <a:avLst>
              <a:gd name="adj" fmla="val 21429"/>
            </a:avLst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19456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kern="0" spc="100" dirty="0">
                <a:solidFill>
                  <a:schemeClr val="bg1"/>
                </a:solidFill>
              </a:rPr>
              <a:t>UNSTRUCTURED / VIBE CODING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9718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Starting point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423160" y="2971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Prompt / idea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3447288"/>
            <a:ext cx="4846320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3483864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Context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423160" y="348386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Mostly conversational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22960" y="3959352"/>
            <a:ext cx="4846320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399592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Architecture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423160" y="399592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May emerge during coding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22960" y="4471416"/>
            <a:ext cx="4846320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5079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Quality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423160" y="450799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Check after generation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22960" y="4983480"/>
            <a:ext cx="4846320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502005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Traceability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2423160" y="502005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Prompt history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22960" y="5495544"/>
            <a:ext cx="4846320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55321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Human role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2423160" y="55321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Prompt and inspect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245352" y="2194560"/>
            <a:ext cx="5394960" cy="3931920"/>
          </a:xfrm>
          <a:prstGeom prst="roundRect">
            <a:avLst>
              <a:gd name="adj" fmla="val 3488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blurRad="127000" dist="38100" dir="5400000" algn="bl" rotWithShape="0">
              <a:srgbClr val="1E1B6B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45352" y="2194560"/>
            <a:ext cx="5394960" cy="640080"/>
          </a:xfrm>
          <a:prstGeom prst="roundRect">
            <a:avLst>
              <a:gd name="adj" fmla="val 21429"/>
            </a:avLst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45352" y="219456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kern="0" spc="100" dirty="0">
                <a:solidFill>
                  <a:schemeClr val="bg1"/>
                </a:solidFill>
              </a:rPr>
              <a:t>AI-DRIVEN SDLC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6519672" y="29718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Starting point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119872" y="2971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Business requirement + approved scope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519672" y="3447288"/>
            <a:ext cx="4846320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519672" y="3483864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Context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8119872" y="348386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Persistent project artifacts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519672" y="3959352"/>
            <a:ext cx="4846320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519672" y="399592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Architecture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8119872" y="399592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Explicit technical plan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519672" y="4471416"/>
            <a:ext cx="4846320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519672" y="450799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Quality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8119872" y="450799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Quality gates throughout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6519672" y="4983480"/>
            <a:ext cx="4846320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519672" y="502005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Traceability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8119872" y="502005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Spec → plan → tasks → code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6519672" y="5495544"/>
            <a:ext cx="4846320" cy="0"/>
          </a:xfrm>
          <a:prstGeom prst="line">
            <a:avLst/>
          </a:prstGeom>
          <a:noFill/>
          <a:ln w="12700">
            <a:solidFill>
              <a:schemeClr val="bg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519672" y="55321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Human role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8119872" y="55321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Approve requirements, decisions, exceptions</a:t>
            </a:r>
            <a:endParaRPr lang="en-US" sz="150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402336"/>
            <a:ext cx="201168" cy="201168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01400" y="402336"/>
            <a:ext cx="201168" cy="20116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75720" y="402336"/>
            <a:ext cx="201168" cy="201168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5" name="Tag pill"/>
          <p:cNvSpPr/>
          <p:nvPr/>
        </p:nvSpPr>
        <p:spPr>
          <a:xfrm>
            <a:off x="548640" y="347472"/>
            <a:ext cx="137160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4747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chemeClr val="bg1"/>
                </a:solidFill>
              </a:rPr>
              <a:t>AI-SDLC</a:t>
            </a:r>
            <a:endParaRPr lang="en-US" sz="1100" dirty="0"/>
          </a:p>
        </p:txBody>
      </p:sp>
      <p:sp>
        <p:nvSpPr>
          <p:cNvPr id="7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7315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What changes in an AI-Driven SDLC?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AI participates across the lifecycle, but durable artifacts and human checkpoints keep the work aligned.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1480" y="2240280"/>
            <a:ext cx="11365992" cy="2606040"/>
          </a:xfrm>
          <a:prstGeom prst="roundRect">
            <a:avLst>
              <a:gd name="adj" fmla="val 7018"/>
            </a:avLst>
          </a:prstGeom>
          <a:solidFill>
            <a:schemeClr val="accent1">
              <a:alpha val="8000"/>
            </a:schemeClr>
          </a:solidFill>
          <a:ln w="25400">
            <a:solidFill>
              <a:schemeClr val="accent1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48640" y="2514600"/>
            <a:ext cx="1600200" cy="2103120"/>
          </a:xfrm>
          <a:prstGeom prst="roundRect">
            <a:avLst>
              <a:gd name="adj" fmla="val 8571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  <a:effectLst>
            <a:outerShdw blurRad="127000" dist="38100" dir="5400000" algn="bl" rotWithShape="0">
              <a:srgbClr val="1E1B6B">
                <a:alpha val="14000"/>
              </a:srgbClr>
            </a:outerShdw>
          </a:effectLst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2788920"/>
            <a:ext cx="548640" cy="54864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48640" y="352044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Business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Intent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185416" y="3429000"/>
            <a:ext cx="224942" cy="274320"/>
          </a:xfrm>
          <a:prstGeom prst="rightArrow">
            <a:avLst/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446934" y="2514600"/>
            <a:ext cx="1600200" cy="2103120"/>
          </a:xfrm>
          <a:prstGeom prst="roundRect">
            <a:avLst>
              <a:gd name="adj" fmla="val 8571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  <a:effectLst>
            <a:outerShdw blurRad="127000" dist="38100" dir="5400000" algn="bl" rotWithShape="0">
              <a:srgbClr val="1E1B6B">
                <a:alpha val="14000"/>
              </a:srgbClr>
            </a:outerShdw>
          </a:effectLst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2714" y="2788920"/>
            <a:ext cx="548640" cy="54864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446934" y="352044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Specification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4083710" y="3429000"/>
            <a:ext cx="224942" cy="274320"/>
          </a:xfrm>
          <a:prstGeom prst="rightArrow">
            <a:avLst/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345229" y="2514600"/>
            <a:ext cx="1600200" cy="2103120"/>
          </a:xfrm>
          <a:prstGeom prst="roundRect">
            <a:avLst>
              <a:gd name="adj" fmla="val 8571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  <a:effectLst>
            <a:outerShdw blurRad="127000" dist="38100" dir="5400000" algn="bl" rotWithShape="0">
              <a:srgbClr val="1E1B6B">
                <a:alpha val="14000"/>
              </a:srgbClr>
            </a:outerShdw>
          </a:effectLst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1009" y="2788920"/>
            <a:ext cx="548640" cy="54864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345229" y="352044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Technical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Plan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982005" y="3429000"/>
            <a:ext cx="224942" cy="274320"/>
          </a:xfrm>
          <a:prstGeom prst="rightArrow">
            <a:avLst/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243523" y="2514600"/>
            <a:ext cx="1600200" cy="210312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  <a:effectLst>
            <a:outerShdw blurRad="127000" dist="38100" dir="5400000" algn="bl" rotWithShape="0">
              <a:srgbClr val="1E1B6B">
                <a:alpha val="14000"/>
              </a:srgbClr>
            </a:outerShdw>
          </a:effectLst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9303" y="2788920"/>
            <a:ext cx="548640" cy="5486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243523" y="352044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Tasks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7880299" y="3429000"/>
            <a:ext cx="224942" cy="274320"/>
          </a:xfrm>
          <a:prstGeom prst="rightArrow">
            <a:avLst/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141818" y="2514600"/>
            <a:ext cx="1600200" cy="2103120"/>
          </a:xfrm>
          <a:prstGeom prst="roundRect">
            <a:avLst>
              <a:gd name="adj" fmla="val 8571"/>
            </a:avLst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  <a:effectLst>
            <a:outerShdw blurRad="127000" dist="38100" dir="5400000" algn="bl" rotWithShape="0">
              <a:srgbClr val="1E1B6B">
                <a:alpha val="14000"/>
              </a:srgbClr>
            </a:outerShdw>
          </a:effectLst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598" y="2788920"/>
            <a:ext cx="548640" cy="54864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8141818" y="352044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Implementation</a:t>
            </a:r>
            <a:endParaRPr lang="en-US" sz="1600" dirty="0"/>
          </a:p>
        </p:txBody>
      </p:sp>
      <p:sp>
        <p:nvSpPr>
          <p:cNvPr id="29" name="Shape 22"/>
          <p:cNvSpPr/>
          <p:nvPr/>
        </p:nvSpPr>
        <p:spPr>
          <a:xfrm>
            <a:off x="9778594" y="3429000"/>
            <a:ext cx="224942" cy="274320"/>
          </a:xfrm>
          <a:prstGeom prst="rightArrow">
            <a:avLst/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10040112" y="2514600"/>
            <a:ext cx="1600200" cy="2103120"/>
          </a:xfrm>
          <a:prstGeom prst="roundRect">
            <a:avLst>
              <a:gd name="adj" fmla="val 8571"/>
            </a:avLst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  <a:effectLst>
            <a:outerShdw blurRad="127000" dist="38100" dir="5400000" algn="bl" rotWithShape="0">
              <a:srgbClr val="1E1B6B">
                <a:alpha val="14000"/>
              </a:srgbClr>
            </a:outerShdw>
          </a:effectLst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65892" y="2788920"/>
            <a:ext cx="548640" cy="54864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10040112" y="352044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Verification</a:t>
            </a:r>
            <a:endParaRPr lang="en-US" sz="1600" dirty="0"/>
          </a:p>
        </p:txBody>
      </p:sp>
      <p:sp>
        <p:nvSpPr>
          <p:cNvPr id="34" name="Text 26"/>
          <p:cNvSpPr txBox="1"/>
          <p:nvPr/>
        </p:nvSpPr>
        <p:spPr>
          <a:xfrm>
            <a:off x="822960" y="525780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Human review and organizational guardrails surround the entire loop</a:t>
            </a:r>
            <a:endParaRPr lang="en-US" sz="18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402336"/>
            <a:ext cx="201168" cy="201168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01400" y="402336"/>
            <a:ext cx="201168" cy="20116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75720" y="402336"/>
            <a:ext cx="201168" cy="201168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5" name="Tag pill"/>
          <p:cNvSpPr/>
          <p:nvPr/>
        </p:nvSpPr>
        <p:spPr>
          <a:xfrm>
            <a:off x="548640" y="347472"/>
            <a:ext cx="1655064" cy="31089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47472"/>
            <a:ext cx="1655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chemeClr val="bg1"/>
                </a:solidFill>
              </a:rPr>
              <a:t>MENTAL MODEL</a:t>
            </a:r>
            <a:endParaRPr lang="en-US" sz="1100" dirty="0"/>
          </a:p>
        </p:txBody>
      </p:sp>
      <p:sp>
        <p:nvSpPr>
          <p:cNvPr id="7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7315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Coding assistant ≠ model ≠ process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Students should separate these layers before learning Spec Kit.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3520440" cy="301752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blurRad="127000" dist="38100" dir="5400000" algn="bl" rotWithShape="0">
              <a:srgbClr val="1E1B6B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468880"/>
            <a:ext cx="640080" cy="64008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262890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600200" y="24688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accent2"/>
                </a:solidFill>
              </a:rPr>
              <a:t>Coding Assistant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338328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The working interface/agent that can inspect the repository, invoke tools and modify files.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5720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Examples: Copilot, Claude Code, Cursor.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334256" y="2194560"/>
            <a:ext cx="3520440" cy="301752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blurRad="127000" dist="38100" dir="5400000" algn="bl" rotWithShape="0">
              <a:srgbClr val="1E1B6B">
                <a:alpha val="14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08576" y="2468880"/>
            <a:ext cx="640080" cy="64008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8596" y="2628900"/>
            <a:ext cx="320040" cy="32004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385816" y="24688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accent6"/>
                </a:solidFill>
              </a:rPr>
              <a:t>LLM / Models</a:t>
            </a:r>
            <a:endParaRPr lang="en-US" sz="2100" dirty="0"/>
          </a:p>
        </p:txBody>
      </p:sp>
      <p:sp>
        <p:nvSpPr>
          <p:cNvPr id="19" name="Text 15"/>
          <p:cNvSpPr txBox="1"/>
          <p:nvPr/>
        </p:nvSpPr>
        <p:spPr>
          <a:xfrm>
            <a:off x="4608576" y="338328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The reasoning and generation engine used by the assistant. Models interpret context and produce decisions/text/code.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8119872" y="2194560"/>
            <a:ext cx="3520440" cy="3017520"/>
          </a:xfrm>
          <a:prstGeom prst="roundRect">
            <a:avLst>
              <a:gd name="adj" fmla="val 4545"/>
            </a:avLst>
          </a:prstGeom>
          <a:solidFill>
            <a:schemeClr val="bg1"/>
          </a:solidFill>
          <a:ln w="38100">
            <a:solidFill>
              <a:schemeClr val="accent1"/>
            </a:solidFill>
            <a:prstDash val="solid"/>
          </a:ln>
          <a:effectLst>
            <a:outerShdw blurRad="127000" dist="38100" dir="5400000" algn="bl" rotWithShape="0">
              <a:srgbClr val="1E1B6B">
                <a:alpha val="14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394192" y="2468880"/>
            <a:ext cx="640080" cy="6400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4212" y="2628900"/>
            <a:ext cx="320040" cy="32004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9171432" y="24688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Process / Harness</a:t>
            </a:r>
            <a:endParaRPr lang="en-US" sz="2100" dirty="0"/>
          </a:p>
        </p:txBody>
      </p:sp>
      <p:sp>
        <p:nvSpPr>
          <p:cNvPr id="24" name="Text 19"/>
          <p:cNvSpPr txBox="1"/>
          <p:nvPr/>
        </p:nvSpPr>
        <p:spPr>
          <a:xfrm>
            <a:off x="8394192" y="338328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Reusable instructions, templates, scripts, artifacts and gates that tell the assistant how work should proceed.</a:t>
            </a:r>
            <a:endParaRPr lang="en-US" sz="1500" dirty="0"/>
          </a:p>
        </p:txBody>
      </p:sp>
      <p:sp>
        <p:nvSpPr>
          <p:cNvPr id="25" name="Shape 20"/>
          <p:cNvSpPr/>
          <p:nvPr/>
        </p:nvSpPr>
        <p:spPr>
          <a:xfrm>
            <a:off x="8394192" y="4572000"/>
            <a:ext cx="2103120" cy="4572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8394192" y="4572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Spec Kit lives here.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548640" y="5623560"/>
            <a:ext cx="11091672" cy="594360"/>
          </a:xfrm>
          <a:prstGeom prst="roundRect">
            <a:avLst>
              <a:gd name="adj" fmla="val 53846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  <a:effectLst>
            <a:outerShdw blurRad="127000" dist="38100" dir="5400000" algn="bl" rotWithShape="0">
              <a:srgbClr val="1E1B6B">
                <a:alpha val="14000"/>
              </a:srgbClr>
            </a:outerShdw>
          </a:effectLst>
        </p:spPr>
      </p:sp>
      <p:sp>
        <p:nvSpPr>
          <p:cNvPr id="28" name="Text 23"/>
          <p:cNvSpPr txBox="1"/>
          <p:nvPr/>
        </p:nvSpPr>
        <p:spPr>
          <a:xfrm>
            <a:off x="822960" y="562356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The same process can guide different coding assistants.</a:t>
            </a:r>
            <a:endParaRPr lang="en-US" sz="18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402336"/>
            <a:ext cx="201168" cy="201168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01400" y="402336"/>
            <a:ext cx="201168" cy="20116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75720" y="402336"/>
            <a:ext cx="201168" cy="201168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5" name="Tag pill"/>
          <p:cNvSpPr/>
          <p:nvPr/>
        </p:nvSpPr>
        <p:spPr>
          <a:xfrm>
            <a:off x="548640" y="347472"/>
            <a:ext cx="2135124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47472"/>
            <a:ext cx="21351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chemeClr val="bg1"/>
                </a:solidFill>
              </a:rPr>
              <a:t>CODING ASSISTANTS</a:t>
            </a:r>
            <a:endParaRPr lang="en-US" sz="1100" dirty="0"/>
          </a:p>
        </p:txBody>
      </p:sp>
      <p:sp>
        <p:nvSpPr>
          <p:cNvPr id="7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7315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What is a “skill”?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A skill packages reusable task instructions so the coding assistant can apply a known workflow instead of relying on a fresh ad-hoc prompt every time.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3383280" cy="2834640"/>
          </a:xfrm>
          <a:prstGeom prst="roundRect">
            <a:avLst>
              <a:gd name="adj" fmla="val 4839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blurRad="127000" dist="38100" dir="5400000" algn="bl" rotWithShape="0">
              <a:srgbClr val="1E1B6B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514600"/>
            <a:ext cx="594360" cy="59436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2663190"/>
            <a:ext cx="297180" cy="29718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554480" y="25146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Reusable instructions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338328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Defines the goal, sequence, constraints, required inputs, expected outputs and checks for a type of task.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023360" y="3474720"/>
            <a:ext cx="288036" cy="365760"/>
          </a:xfrm>
          <a:prstGeom prst="rightArrow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02836" y="2240280"/>
            <a:ext cx="3383280" cy="2834640"/>
          </a:xfrm>
          <a:prstGeom prst="roundRect">
            <a:avLst>
              <a:gd name="adj" fmla="val 4839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blurRad="127000" dist="38100" dir="5400000" algn="bl" rotWithShape="0">
              <a:srgbClr val="1E1B6B">
                <a:alpha val="14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77156" y="2514600"/>
            <a:ext cx="594360" cy="594360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5746" y="2663190"/>
            <a:ext cx="297180" cy="29718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408676" y="25146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Dynamic input</a:t>
            </a:r>
            <a:endParaRPr lang="en-US" sz="2000" dirty="0"/>
          </a:p>
        </p:txBody>
      </p:sp>
      <p:sp>
        <p:nvSpPr>
          <p:cNvPr id="19" name="Text 15"/>
          <p:cNvSpPr txBox="1"/>
          <p:nvPr/>
        </p:nvSpPr>
        <p:spPr>
          <a:xfrm>
            <a:off x="4677156" y="338328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The skill is reusable; the user supplies the feature, requirement or context for this run.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7877556" y="3474720"/>
            <a:ext cx="288036" cy="365760"/>
          </a:xfrm>
          <a:prstGeom prst="rightArrow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257032" y="2240280"/>
            <a:ext cx="3383280" cy="2834640"/>
          </a:xfrm>
          <a:prstGeom prst="roundRect">
            <a:avLst>
              <a:gd name="adj" fmla="val 4839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blurRad="127000" dist="38100" dir="5400000" algn="bl" rotWithShape="0">
              <a:srgbClr val="1E1B6B">
                <a:alpha val="14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531352" y="2514600"/>
            <a:ext cx="594360" cy="59436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9942" y="2663190"/>
            <a:ext cx="297180" cy="29718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9262872" y="25146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Assistant executes</a:t>
            </a:r>
            <a:endParaRPr lang="en-US" sz="2000" dirty="0"/>
          </a:p>
        </p:txBody>
      </p:sp>
      <p:sp>
        <p:nvSpPr>
          <p:cNvPr id="25" name="Text 20"/>
          <p:cNvSpPr txBox="1"/>
          <p:nvPr/>
        </p:nvSpPr>
        <p:spPr>
          <a:xfrm>
            <a:off x="8531352" y="338328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The coding assistant loads the relevant instructions, combines them with repository context and asks the LLM to perform the workflow.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548640" y="5532120"/>
            <a:ext cx="11091672" cy="64008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  <a:effectLst>
            <a:outerShdw blurRad="127000" dist="38100" dir="5400000" algn="bl" rotWithShape="0">
              <a:srgbClr val="1E1B6B">
                <a:alpha val="14000"/>
              </a:srgbClr>
            </a:outerShdw>
          </a:effectLst>
        </p:spPr>
      </p:sp>
      <p:sp>
        <p:nvSpPr>
          <p:cNvPr id="27" name="Text 22"/>
          <p:cNvSpPr txBox="1"/>
          <p:nvPr/>
        </p:nvSpPr>
        <p:spPr>
          <a:xfrm>
            <a:off x="822960" y="553212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Think: Skill = reusable procedure/template + runtime context, not a fixed answer.</a:t>
            </a:r>
            <a:endParaRPr lang="en-US" sz="18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402336"/>
            <a:ext cx="201168" cy="201168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01400" y="402336"/>
            <a:ext cx="201168" cy="20116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75720" y="402336"/>
            <a:ext cx="201168" cy="201168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5" name="Tag pill"/>
          <p:cNvSpPr/>
          <p:nvPr/>
        </p:nvSpPr>
        <p:spPr>
          <a:xfrm>
            <a:off x="548640" y="347472"/>
            <a:ext cx="2135124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47472"/>
            <a:ext cx="21351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chemeClr val="bg1"/>
                </a:solidFill>
              </a:rPr>
              <a:t>CODING ASSISTANTS</a:t>
            </a:r>
            <a:endParaRPr lang="en-US" sz="1100" dirty="0"/>
          </a:p>
        </p:txBody>
      </p:sp>
      <p:sp>
        <p:nvSpPr>
          <p:cNvPr id="7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7315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Skills, slash commands, scripts and tools are different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They work together, but they are not interchangeable.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2606040" cy="2971800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blurRad="127000" dist="38100" dir="5400000" algn="bl" rotWithShape="0">
              <a:srgbClr val="1E1B6B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468880"/>
            <a:ext cx="640080" cy="64008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262890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22960" y="32918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accent2"/>
                </a:solidFill>
              </a:rPr>
              <a:t>Skill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38404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Reusable workflow instructions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5262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tx2"/>
                </a:solidFill>
              </a:rPr>
              <a:t>“How to perform this class of task”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3377184" y="2194560"/>
            <a:ext cx="2606040" cy="2971800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blurRad="127000" dist="38100" dir="5400000" algn="bl" rotWithShape="0">
              <a:srgbClr val="1E1B6B">
                <a:alpha val="14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51504" y="2468880"/>
            <a:ext cx="640080" cy="6400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1524" y="2628900"/>
            <a:ext cx="320040" cy="32004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3651504" y="32918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Slash command</a:t>
            </a:r>
            <a:endParaRPr lang="en-US" sz="2100" dirty="0"/>
          </a:p>
        </p:txBody>
      </p:sp>
      <p:sp>
        <p:nvSpPr>
          <p:cNvPr id="19" name="Text 15"/>
          <p:cNvSpPr txBox="1"/>
          <p:nvPr/>
        </p:nvSpPr>
        <p:spPr>
          <a:xfrm>
            <a:off x="3651504" y="38404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Invocation surface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3651504" y="45262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tx2"/>
                </a:solidFill>
              </a:rPr>
              <a:t>“Run this skill/process now”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6205728" y="2194560"/>
            <a:ext cx="2606040" cy="2971800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blurRad="127000" dist="38100" dir="5400000" algn="bl" rotWithShape="0">
              <a:srgbClr val="1E1B6B">
                <a:alpha val="14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480048" y="2468880"/>
            <a:ext cx="640080" cy="64008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0068" y="2628900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480048" y="32918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accent6"/>
                </a:solidFill>
              </a:rPr>
              <a:t>Script</a:t>
            </a:r>
            <a:endParaRPr lang="en-US" sz="2100" dirty="0"/>
          </a:p>
        </p:txBody>
      </p:sp>
      <p:sp>
        <p:nvSpPr>
          <p:cNvPr id="25" name="Text 20"/>
          <p:cNvSpPr txBox="1"/>
          <p:nvPr/>
        </p:nvSpPr>
        <p:spPr>
          <a:xfrm>
            <a:off x="6480048" y="38404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Deterministic automation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6480048" y="45262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tx2"/>
                </a:solidFill>
              </a:rPr>
              <a:t>Setup, inspect, create or validate artifacts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9034272" y="2194560"/>
            <a:ext cx="2606040" cy="2971800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blurRad="127000" dist="38100" dir="5400000" algn="bl" rotWithShape="0">
              <a:srgbClr val="1E1B6B">
                <a:alpha val="14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9308592" y="2468880"/>
            <a:ext cx="640080" cy="64008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8612" y="2628900"/>
            <a:ext cx="320040" cy="32004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9308592" y="32918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accent4"/>
                </a:solidFill>
              </a:rPr>
              <a:t>Tool / MCP</a:t>
            </a:r>
            <a:endParaRPr lang="en-US" sz="2100" dirty="0"/>
          </a:p>
        </p:txBody>
      </p:sp>
      <p:sp>
        <p:nvSpPr>
          <p:cNvPr id="31" name="Text 25"/>
          <p:cNvSpPr txBox="1"/>
          <p:nvPr/>
        </p:nvSpPr>
        <p:spPr>
          <a:xfrm>
            <a:off x="9308592" y="38404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External capability</a:t>
            </a:r>
            <a:endParaRPr lang="en-US" sz="1600" dirty="0"/>
          </a:p>
        </p:txBody>
      </p:sp>
      <p:sp>
        <p:nvSpPr>
          <p:cNvPr id="32" name="Text 26"/>
          <p:cNvSpPr txBox="1"/>
          <p:nvPr/>
        </p:nvSpPr>
        <p:spPr>
          <a:xfrm>
            <a:off x="9308592" y="45262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tx2"/>
                </a:solidFill>
              </a:rPr>
              <a:t>GitHub, Jira, shell, database, browser…</a:t>
            </a:r>
            <a:endParaRPr lang="en-US" sz="1500" dirty="0"/>
          </a:p>
        </p:txBody>
      </p:sp>
      <p:sp>
        <p:nvSpPr>
          <p:cNvPr id="33" name="Shape 27"/>
          <p:cNvSpPr/>
          <p:nvPr/>
        </p:nvSpPr>
        <p:spPr>
          <a:xfrm>
            <a:off x="548640" y="5577840"/>
            <a:ext cx="11091672" cy="64008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  <a:effectLst>
            <a:outerShdw blurRad="127000" dist="38100" dir="5400000" algn="bl" rotWithShape="0">
              <a:srgbClr val="1E1B6B">
                <a:alpha val="14000"/>
              </a:srgbClr>
            </a:outerShdw>
          </a:effectLst>
        </p:spPr>
      </p:sp>
      <p:sp>
        <p:nvSpPr>
          <p:cNvPr id="34" name="Text 28"/>
          <p:cNvSpPr txBox="1"/>
          <p:nvPr/>
        </p:nvSpPr>
        <p:spPr>
          <a:xfrm>
            <a:off x="822960" y="557784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The coding assistant is the orchestrator that connects instructions + context + tools + model.</a:t>
            </a:r>
            <a:endParaRPr lang="en-US" sz="17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402336"/>
            <a:ext cx="201168" cy="201168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01400" y="402336"/>
            <a:ext cx="201168" cy="20116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75720" y="402336"/>
            <a:ext cx="201168" cy="201168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5" name="Tag pill"/>
          <p:cNvSpPr/>
          <p:nvPr/>
        </p:nvSpPr>
        <p:spPr>
          <a:xfrm>
            <a:off x="548640" y="347472"/>
            <a:ext cx="137160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4747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chemeClr val="bg1"/>
                </a:solidFill>
              </a:rPr>
              <a:t>SPEC KIT</a:t>
            </a:r>
            <a:endParaRPr lang="en-US" sz="1100" dirty="0"/>
          </a:p>
        </p:txBody>
      </p:sp>
      <p:sp>
        <p:nvSpPr>
          <p:cNvPr id="7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7315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So what is GitHub Spec Kit?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An open-source process harness that gives AI coding agents structured processes, reusable templates and documented outcomes.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3383280" cy="2606040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blurRad="127000" dist="38100" dir="5400000" algn="bl" rotWithShape="0">
              <a:srgbClr val="1E1B6B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514600"/>
            <a:ext cx="640080" cy="64008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267462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645920" y="25146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6"/>
                </a:solidFill>
              </a:rPr>
              <a:t>NOT another LLM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342900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Spec Kit does not replace the underlying model or coding assistant.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402836" y="2240280"/>
            <a:ext cx="3383280" cy="2606040"/>
          </a:xfrm>
          <a:prstGeom prst="roundRect">
            <a:avLst>
              <a:gd name="adj" fmla="val 5263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blurRad="127000" dist="38100" dir="5400000" algn="bl" rotWithShape="0">
              <a:srgbClr val="1E1B6B">
                <a:alpha val="1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77156" y="2514600"/>
            <a:ext cx="640080" cy="640080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176" y="2674620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500116" y="25146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NOT just prompts</a:t>
            </a:r>
            <a:endParaRPr lang="en-US" sz="2000" dirty="0"/>
          </a:p>
        </p:txBody>
      </p:sp>
      <p:sp>
        <p:nvSpPr>
          <p:cNvPr id="18" name="Text 14"/>
          <p:cNvSpPr txBox="1"/>
          <p:nvPr/>
        </p:nvSpPr>
        <p:spPr>
          <a:xfrm>
            <a:off x="4677156" y="342900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It coordinates prompts/skills, templates, scripts, project artifacts and quality gates.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8257032" y="2240280"/>
            <a:ext cx="3383280" cy="2606040"/>
          </a:xfrm>
          <a:prstGeom prst="roundRect">
            <a:avLst>
              <a:gd name="adj" fmla="val 5263"/>
            </a:avLst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  <a:effectLst>
            <a:outerShdw blurRad="127000" dist="38100" dir="5400000" algn="bl" rotWithShape="0">
              <a:srgbClr val="1E1B6B">
                <a:alpha val="14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531352" y="2514600"/>
            <a:ext cx="640080" cy="640080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1372" y="2674620"/>
            <a:ext cx="320040" cy="32004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354312" y="25146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PROCESS LAYER</a:t>
            </a:r>
            <a:endParaRPr lang="en-US" sz="2000" dirty="0"/>
          </a:p>
        </p:txBody>
      </p:sp>
      <p:sp>
        <p:nvSpPr>
          <p:cNvPr id="23" name="Text 18"/>
          <p:cNvSpPr txBox="1"/>
          <p:nvPr/>
        </p:nvSpPr>
        <p:spPr>
          <a:xfrm>
            <a:off x="8531352" y="342900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It keeps intent ahead of implementation and guides the coding agent step by step through SDD.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548640" y="5532120"/>
            <a:ext cx="11091672" cy="64008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  <a:effectLst>
            <a:outerShdw blurRad="127000" dist="38100" dir="5400000" algn="bl" rotWithShape="0">
              <a:srgbClr val="1E1B6B">
                <a:alpha val="14000"/>
              </a:srgbClr>
            </a:outerShdw>
          </a:effectLst>
        </p:spPr>
      </p:sp>
      <p:sp>
        <p:nvSpPr>
          <p:cNvPr id="25" name="Text 20"/>
          <p:cNvSpPr txBox="1"/>
          <p:nvPr/>
        </p:nvSpPr>
        <p:spPr>
          <a:xfrm>
            <a:off x="822960" y="553212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GitHub describes Spec Kit as a toolkit/harness for structured processes with coding agents.</a:t>
            </a:r>
            <a:endParaRPr lang="en-US" sz="17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402336"/>
            <a:ext cx="201168" cy="201168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01400" y="402336"/>
            <a:ext cx="201168" cy="20116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75720" y="402336"/>
            <a:ext cx="201168" cy="201168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5" name="Tag pill"/>
          <p:cNvSpPr/>
          <p:nvPr/>
        </p:nvSpPr>
        <p:spPr>
          <a:xfrm>
            <a:off x="548640" y="347472"/>
            <a:ext cx="1371600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4747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chemeClr val="bg1"/>
                </a:solidFill>
              </a:rPr>
              <a:t>SPEC KIT</a:t>
            </a:r>
            <a:endParaRPr lang="en-US" sz="1100" dirty="0"/>
          </a:p>
        </p:txBody>
      </p:sp>
      <p:sp>
        <p:nvSpPr>
          <p:cNvPr id="7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7315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The core Spec-Driven Development lifecycle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Constitution is project-wide. The feature loop is repeated for each bounded capability.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2011680" cy="1234440"/>
          </a:xfrm>
          <a:prstGeom prst="roundRect">
            <a:avLst>
              <a:gd name="adj" fmla="val 11111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  <a:effectLst>
            <a:outerShdw blurRad="127000" dist="38100" dir="5400000" algn="bl" rotWithShape="0">
              <a:srgbClr val="1E1B6B">
                <a:alpha val="14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48640" y="24414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bg1"/>
                </a:solidFill>
              </a:rPr>
              <a:t>Constitution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9535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Rules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587752" y="2729484"/>
            <a:ext cx="203454" cy="256032"/>
          </a:xfrm>
          <a:prstGeom prst="rightArrow">
            <a:avLst/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18638" y="2240280"/>
            <a:ext cx="2011680" cy="1234440"/>
          </a:xfrm>
          <a:prstGeom prst="roundRect">
            <a:avLst>
              <a:gd name="adj" fmla="val 11111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  <a:effectLst>
            <a:outerShdw blurRad="127000" dist="38100" dir="5400000" algn="bl" rotWithShape="0">
              <a:srgbClr val="1E1B6B">
                <a:alpha val="14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2818638" y="24414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bg1"/>
                </a:solidFill>
              </a:rPr>
              <a:t>Specify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2818638" y="29535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WHAT / WHY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57750" y="2729484"/>
            <a:ext cx="203454" cy="256032"/>
          </a:xfrm>
          <a:prstGeom prst="rightArrow">
            <a:avLst/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88636" y="2240280"/>
            <a:ext cx="2011680" cy="1234440"/>
          </a:xfrm>
          <a:prstGeom prst="roundRect">
            <a:avLst>
              <a:gd name="adj" fmla="val 11111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  <a:effectLst>
            <a:outerShdw blurRad="127000" dist="38100" dir="5400000" algn="bl" rotWithShape="0">
              <a:srgbClr val="1E1B6B">
                <a:alpha val="14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088636" y="24414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tx1"/>
                </a:solidFill>
              </a:rPr>
              <a:t>Clarify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5088636" y="29535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Ambiguity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127748" y="2729484"/>
            <a:ext cx="203454" cy="256032"/>
          </a:xfrm>
          <a:prstGeom prst="rightArrow">
            <a:avLst/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58634" y="2240280"/>
            <a:ext cx="2011680" cy="123444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  <a:effectLst>
            <a:outerShdw blurRad="127000" dist="38100" dir="5400000" algn="bl" rotWithShape="0">
              <a:srgbClr val="1E1B6B">
                <a:alpha val="14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358634" y="24414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bg1"/>
                </a:solidFill>
              </a:rPr>
              <a:t>Plan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7358634" y="29535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HOW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397746" y="2729484"/>
            <a:ext cx="203454" cy="256032"/>
          </a:xfrm>
          <a:prstGeom prst="rightArrow">
            <a:avLst/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28632" y="2240280"/>
            <a:ext cx="2011680" cy="1234440"/>
          </a:xfrm>
          <a:prstGeom prst="roundRect">
            <a:avLst>
              <a:gd name="adj" fmla="val 11111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  <a:effectLst>
            <a:outerShdw blurRad="127000" dist="38100" dir="5400000" algn="bl" rotWithShape="0">
              <a:srgbClr val="1E1B6B">
                <a:alpha val="14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628632" y="24414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tx1"/>
                </a:solidFill>
              </a:rPr>
              <a:t>Checklist</a:t>
            </a:r>
            <a:endParaRPr lang="en-US" sz="2100" dirty="0"/>
          </a:p>
        </p:txBody>
      </p:sp>
      <p:sp>
        <p:nvSpPr>
          <p:cNvPr id="27" name="Text 25"/>
          <p:cNvSpPr txBox="1"/>
          <p:nvPr/>
        </p:nvSpPr>
        <p:spPr>
          <a:xfrm>
            <a:off x="9628632" y="29535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Spec quality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4069080"/>
            <a:ext cx="2011680" cy="1234440"/>
          </a:xfrm>
          <a:prstGeom prst="roundRect">
            <a:avLst>
              <a:gd name="adj" fmla="val 11111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  <a:effectLst>
            <a:outerShdw blurRad="127000" dist="38100" dir="5400000" algn="bl" rotWithShape="0">
              <a:srgbClr val="1E1B6B">
                <a:alpha val="14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548640" y="42702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bg1"/>
                </a:solidFill>
              </a:rPr>
              <a:t>Tasks</a:t>
            </a:r>
            <a:endParaRPr lang="en-US" sz="21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47823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Work units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587752" y="4558284"/>
            <a:ext cx="203454" cy="256032"/>
          </a:xfrm>
          <a:prstGeom prst="rightArrow">
            <a:avLst/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818638" y="4069080"/>
            <a:ext cx="2011680" cy="1234440"/>
          </a:xfrm>
          <a:prstGeom prst="roundRect">
            <a:avLst>
              <a:gd name="adj" fmla="val 11111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  <a:effectLst>
            <a:outerShdw blurRad="127000" dist="38100" dir="5400000" algn="bl" rotWithShape="0">
              <a:srgbClr val="1E1B6B">
                <a:alpha val="14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2818638" y="42702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tx1"/>
                </a:solidFill>
              </a:rPr>
              <a:t>Analyze</a:t>
            </a:r>
            <a:endParaRPr lang="en-US" sz="2100" dirty="0"/>
          </a:p>
        </p:txBody>
      </p:sp>
      <p:sp>
        <p:nvSpPr>
          <p:cNvPr id="34" name="Text 32"/>
          <p:cNvSpPr txBox="1"/>
          <p:nvPr/>
        </p:nvSpPr>
        <p:spPr>
          <a:xfrm>
            <a:off x="2818638" y="47823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Cross-artifact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857750" y="4558284"/>
            <a:ext cx="203454" cy="256032"/>
          </a:xfrm>
          <a:prstGeom prst="rightArrow">
            <a:avLst/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88636" y="4069080"/>
            <a:ext cx="2011680" cy="1234440"/>
          </a:xfrm>
          <a:prstGeom prst="roundRect">
            <a:avLst>
              <a:gd name="adj" fmla="val 11111"/>
            </a:avLst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  <a:effectLst>
            <a:outerShdw blurRad="127000" dist="38100" dir="5400000" algn="bl" rotWithShape="0">
              <a:srgbClr val="1E1B6B">
                <a:alpha val="14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5088636" y="42702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bg1"/>
                </a:solidFill>
              </a:rPr>
              <a:t>Implement</a:t>
            </a:r>
            <a:endParaRPr lang="en-US" sz="2100" dirty="0"/>
          </a:p>
        </p:txBody>
      </p:sp>
      <p:sp>
        <p:nvSpPr>
          <p:cNvPr id="38" name="Text 36"/>
          <p:cNvSpPr txBox="1"/>
          <p:nvPr/>
        </p:nvSpPr>
        <p:spPr>
          <a:xfrm>
            <a:off x="5088636" y="47823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Code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127748" y="4558284"/>
            <a:ext cx="203454" cy="256032"/>
          </a:xfrm>
          <a:prstGeom prst="rightArrow">
            <a:avLst/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358634" y="4069080"/>
            <a:ext cx="2011680" cy="1234440"/>
          </a:xfrm>
          <a:prstGeom prst="roundRect">
            <a:avLst>
              <a:gd name="adj" fmla="val 11111"/>
            </a:avLst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  <a:effectLst>
            <a:outerShdw blurRad="127000" dist="38100" dir="5400000" algn="bl" rotWithShape="0">
              <a:srgbClr val="1E1B6B">
                <a:alpha val="14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7358634" y="42702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chemeClr val="bg1"/>
                </a:solidFill>
              </a:rPr>
              <a:t>Converge</a:t>
            </a:r>
            <a:endParaRPr lang="en-US" sz="2100" dirty="0"/>
          </a:p>
        </p:txBody>
      </p:sp>
      <p:sp>
        <p:nvSpPr>
          <p:cNvPr id="42" name="Text 40"/>
          <p:cNvSpPr txBox="1"/>
          <p:nvPr/>
        </p:nvSpPr>
        <p:spPr>
          <a:xfrm>
            <a:off x="7358634" y="47823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Code vs intent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10634472" y="3474720"/>
            <a:ext cx="0" cy="297180"/>
          </a:xfrm>
          <a:prstGeom prst="line">
            <a:avLst/>
          </a:prstGeom>
          <a:noFill/>
          <a:ln w="25400">
            <a:solidFill>
              <a:schemeClr val="tx2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1554480" y="3771900"/>
            <a:ext cx="9079992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1554480" y="3771900"/>
            <a:ext cx="0" cy="297180"/>
          </a:xfrm>
          <a:prstGeom prst="line">
            <a:avLst/>
          </a:prstGeom>
          <a:noFill/>
          <a:ln w="25400">
            <a:solidFill>
              <a:schemeClr val="tx2"/>
            </a:solidFill>
            <a:prstDash val="dash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9628632" y="4069080"/>
            <a:ext cx="2011680" cy="89154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blurRad="127000" dist="38100" dir="5400000" algn="bl" rotWithShape="0">
              <a:srgbClr val="1E1B6B">
                <a:alpha val="14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9829800" y="4251960"/>
            <a:ext cx="182880" cy="182880"/>
          </a:xfrm>
          <a:prstGeom prst="ellipse">
            <a:avLst/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0131552" y="42062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Project-wide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9829800" y="4576923"/>
            <a:ext cx="182880" cy="182880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10131552" y="4531203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Quality gate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548640" y="5623560"/>
            <a:ext cx="11091672" cy="594360"/>
          </a:xfrm>
          <a:prstGeom prst="roundRect">
            <a:avLst>
              <a:gd name="adj" fmla="val 53846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  <a:effectLst>
            <a:outerShdw blurRad="127000" dist="38100" dir="5400000" algn="bl" rotWithShape="0">
              <a:srgbClr val="1E1B6B">
                <a:alpha val="14000"/>
              </a:srgbClr>
            </a:outerShdw>
          </a:effectLst>
        </p:spPr>
      </p:sp>
      <p:sp>
        <p:nvSpPr>
          <p:cNvPr id="54" name="Text 52"/>
          <p:cNvSpPr txBox="1"/>
          <p:nvPr/>
        </p:nvSpPr>
        <p:spPr>
          <a:xfrm>
            <a:off x="822960" y="562356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Quality gates are added when ambiguity/risk warrants them.</a:t>
            </a:r>
            <a:endParaRPr lang="en-US" sz="1800" dirty="0"/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402336"/>
            <a:ext cx="201168" cy="201168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01400" y="402336"/>
            <a:ext cx="201168" cy="20116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75720" y="402336"/>
            <a:ext cx="201168" cy="201168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5" name="Tag pill"/>
          <p:cNvSpPr/>
          <p:nvPr/>
        </p:nvSpPr>
        <p:spPr>
          <a:xfrm>
            <a:off x="548640" y="347472"/>
            <a:ext cx="1463040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4747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chemeClr val="bg1"/>
                </a:solidFill>
              </a:rPr>
              <a:t>ENTERPRISE</a:t>
            </a:r>
            <a:endParaRPr lang="en-US" sz="1100" dirty="0"/>
          </a:p>
        </p:txBody>
      </p:sp>
      <p:sp>
        <p:nvSpPr>
          <p:cNvPr id="7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7315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Large products need decomposition before feature-level SDD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Do not ask one feature specification to carry an entire enterprise platform.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3383280" cy="2834640"/>
          </a:xfrm>
          <a:prstGeom prst="roundRect">
            <a:avLst>
              <a:gd name="adj" fmla="val 4839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blurRad="127000" dist="38100" dir="5400000" algn="bl" rotWithShape="0">
              <a:srgbClr val="1E1B6B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468880"/>
            <a:ext cx="594360" cy="59436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2617470"/>
            <a:ext cx="297180" cy="29718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554480" y="24688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Business Requirement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33375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Global Employee Expense Management Platform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2062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50,000 employees • 20 countries • multi-currency • approvals • ERP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023360" y="3429000"/>
            <a:ext cx="288036" cy="365760"/>
          </a:xfrm>
          <a:prstGeom prst="rightArrow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02836" y="2194560"/>
            <a:ext cx="3383280" cy="2834640"/>
          </a:xfrm>
          <a:prstGeom prst="roundRect">
            <a:avLst>
              <a:gd name="adj" fmla="val 4839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blurRad="127000" dist="38100" dir="5400000" algn="bl" rotWithShape="0">
              <a:srgbClr val="1E1B6B">
                <a:alpha val="14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77156" y="2468880"/>
            <a:ext cx="594360" cy="5943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5746" y="2617470"/>
            <a:ext cx="297180" cy="29718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408676" y="24688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Product Decomposition</a:t>
            </a:r>
            <a:endParaRPr lang="en-US" sz="1900" dirty="0"/>
          </a:p>
        </p:txBody>
      </p:sp>
      <p:sp>
        <p:nvSpPr>
          <p:cNvPr id="20" name="Text 16"/>
          <p:cNvSpPr txBox="1"/>
          <p:nvPr/>
        </p:nvSpPr>
        <p:spPr>
          <a:xfrm>
            <a:off x="4677156" y="3337560"/>
            <a:ext cx="2834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Identity • Expense • Receipt • Policy • Approval • Finance • Reimbursement • Reporting • Audit…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7877556" y="3429000"/>
            <a:ext cx="288036" cy="365760"/>
          </a:xfrm>
          <a:prstGeom prst="rightArrow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257032" y="2194560"/>
            <a:ext cx="3383280" cy="2834640"/>
          </a:xfrm>
          <a:prstGeom prst="roundRect">
            <a:avLst>
              <a:gd name="adj" fmla="val 4839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blurRad="127000" dist="38100" dir="5400000" algn="bl" rotWithShape="0">
              <a:srgbClr val="1E1B6B">
                <a:alpha val="14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531352" y="2468880"/>
            <a:ext cx="594360" cy="59436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9942" y="2617470"/>
            <a:ext cx="297180" cy="29718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9262872" y="24688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4"/>
                </a:solidFill>
              </a:rPr>
              <a:t>Feature-Level SDD</a:t>
            </a:r>
            <a:endParaRPr lang="en-US" sz="1900" dirty="0"/>
          </a:p>
        </p:txBody>
      </p:sp>
      <p:sp>
        <p:nvSpPr>
          <p:cNvPr id="26" name="Text 21"/>
          <p:cNvSpPr txBox="1"/>
          <p:nvPr/>
        </p:nvSpPr>
        <p:spPr>
          <a:xfrm>
            <a:off x="8531352" y="3337560"/>
            <a:ext cx="2834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2"/>
                </a:solidFill>
              </a:rPr>
              <a:t>Take one bounded capability at a time through Specify → Plan → Tasks → Implement → Converge.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548640" y="5532120"/>
            <a:ext cx="11091672" cy="64008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  <a:effectLst>
            <a:outerShdw blurRad="127000" dist="38100" dir="5400000" algn="bl" rotWithShape="0">
              <a:srgbClr val="1E1B6B">
                <a:alpha val="14000"/>
              </a:srgbClr>
            </a:outerShdw>
          </a:effectLst>
        </p:spPr>
      </p:sp>
      <p:sp>
        <p:nvSpPr>
          <p:cNvPr id="28" name="Text 23"/>
          <p:cNvSpPr txBox="1"/>
          <p:nvPr/>
        </p:nvSpPr>
        <p:spPr>
          <a:xfrm>
            <a:off x="822960" y="553212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ROADMAP.md can be a useful project artifact, but the roadmap itself is not required by Spec Kit.</a:t>
            </a:r>
            <a:endParaRPr lang="en-US" sz="17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402336"/>
            <a:ext cx="201168" cy="201168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01400" y="402336"/>
            <a:ext cx="201168" cy="20116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75720" y="402336"/>
            <a:ext cx="201168" cy="201168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5" name="Tag pill"/>
          <p:cNvSpPr/>
          <p:nvPr/>
        </p:nvSpPr>
        <p:spPr>
          <a:xfrm>
            <a:off x="548640" y="347472"/>
            <a:ext cx="1371600" cy="31089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4747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chemeClr val="bg1"/>
                </a:solidFill>
              </a:rPr>
              <a:t>ARTIFACTS</a:t>
            </a:r>
            <a:endParaRPr lang="en-US" sz="1100" dirty="0"/>
          </a:p>
        </p:txBody>
      </p:sp>
      <p:sp>
        <p:nvSpPr>
          <p:cNvPr id="7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7315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Each artifact answers a different question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The artifacts create durable context that survives beyond a single chat session.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3520440" cy="178308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blurRad="127000" dist="38100" dir="5400000" algn="bl" rotWithShape="0">
              <a:srgbClr val="1E1B6B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514600"/>
            <a:ext cx="731520" cy="7315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69748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737360" y="2468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constitution.md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1737360" y="30175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How must we build software?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334256" y="2194560"/>
            <a:ext cx="3520440" cy="178308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blurRad="127000" dist="38100" dir="5400000" algn="bl" rotWithShape="0">
              <a:srgbClr val="1E1B6B">
                <a:alpha val="1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08576" y="2514600"/>
            <a:ext cx="731520" cy="73152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269748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522976" y="2468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ROADMAP.md</a:t>
            </a:r>
            <a:endParaRPr 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5522976" y="30175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What capabilities make up this product?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8119872" y="2194560"/>
            <a:ext cx="3520440" cy="178308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blurRad="127000" dist="38100" dir="5400000" algn="bl" rotWithShape="0">
              <a:srgbClr val="1E1B6B">
                <a:alpha val="14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94192" y="2514600"/>
            <a:ext cx="731520" cy="731520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7072" y="269748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308592" y="2468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spec.md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9308592" y="30175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What must this capability do — and why?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548640" y="4251960"/>
            <a:ext cx="3520440" cy="178308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blurRad="127000" dist="38100" dir="5400000" algn="bl" rotWithShape="0">
              <a:srgbClr val="1E1B6B">
                <a:alpha val="14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22960" y="4572000"/>
            <a:ext cx="731520" cy="73152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4754880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737360" y="4526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plan.md</a:t>
            </a:r>
            <a:endParaRPr lang="en-US" sz="1700" dirty="0"/>
          </a:p>
        </p:txBody>
      </p:sp>
      <p:sp>
        <p:nvSpPr>
          <p:cNvPr id="28" name="Text 22"/>
          <p:cNvSpPr txBox="1"/>
          <p:nvPr/>
        </p:nvSpPr>
        <p:spPr>
          <a:xfrm>
            <a:off x="1737360" y="50749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How will we technically build it?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4334256" y="4251960"/>
            <a:ext cx="3520440" cy="178308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blurRad="127000" dist="38100" dir="5400000" algn="bl" rotWithShape="0">
              <a:srgbClr val="1E1B6B">
                <a:alpha val="14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608576" y="4572000"/>
            <a:ext cx="731520" cy="731520"/>
          </a:xfrm>
          <a:prstGeom prst="ellipse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1456" y="4754880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522976" y="4526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tasks.md</a:t>
            </a:r>
            <a:endParaRPr lang="en-US" sz="1700" dirty="0"/>
          </a:p>
        </p:txBody>
      </p:sp>
      <p:sp>
        <p:nvSpPr>
          <p:cNvPr id="33" name="Text 26"/>
          <p:cNvSpPr txBox="1"/>
          <p:nvPr/>
        </p:nvSpPr>
        <p:spPr>
          <a:xfrm>
            <a:off x="5522976" y="50749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What concrete work must be done?</a:t>
            </a:r>
            <a:endParaRPr lang="en-US" sz="1500" dirty="0"/>
          </a:p>
        </p:txBody>
      </p:sp>
      <p:sp>
        <p:nvSpPr>
          <p:cNvPr id="34" name="Shape 27"/>
          <p:cNvSpPr/>
          <p:nvPr/>
        </p:nvSpPr>
        <p:spPr>
          <a:xfrm>
            <a:off x="8119872" y="4251960"/>
            <a:ext cx="3520440" cy="178308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6350">
            <a:solidFill>
              <a:schemeClr val="bg1"/>
            </a:solidFill>
            <a:prstDash val="solid"/>
          </a:ln>
          <a:effectLst>
            <a:outerShdw blurRad="127000" dist="38100" dir="5400000" algn="bl" rotWithShape="0">
              <a:srgbClr val="1E1B6B">
                <a:alpha val="14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394192" y="4572000"/>
            <a:ext cx="731520" cy="73152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7072" y="4754880"/>
            <a:ext cx="365760" cy="36576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308592" y="4526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1700" dirty="0"/>
          </a:p>
        </p:txBody>
      </p:sp>
      <p:sp>
        <p:nvSpPr>
          <p:cNvPr id="38" name="Text 30"/>
          <p:cNvSpPr txBox="1"/>
          <p:nvPr/>
        </p:nvSpPr>
        <p:spPr>
          <a:xfrm>
            <a:off x="9308592" y="50749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What has actually been implemented?</a:t>
            </a:r>
            <a:endParaRPr lang="en-US" sz="15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402336"/>
            <a:ext cx="201168" cy="201168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01400" y="402336"/>
            <a:ext cx="201168" cy="20116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75720" y="402336"/>
            <a:ext cx="201168" cy="201168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5" name="Tag pill"/>
          <p:cNvSpPr/>
          <p:nvPr/>
        </p:nvSpPr>
        <p:spPr>
          <a:xfrm>
            <a:off x="548640" y="347472"/>
            <a:ext cx="2135124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47472"/>
            <a:ext cx="21351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chemeClr val="bg1"/>
                </a:solidFill>
              </a:rPr>
              <a:t>COMMAND REFERENCE</a:t>
            </a:r>
            <a:endParaRPr lang="en-US" sz="1100" dirty="0"/>
          </a:p>
        </p:txBody>
      </p:sp>
      <p:sp>
        <p:nvSpPr>
          <p:cNvPr id="7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7315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Spec Kit commands and agent skills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7799605"/>
              </p:ext>
            </p:extLst>
          </p:nvPr>
        </p:nvGraphicFramePr>
        <p:xfrm>
          <a:off x="548640" y="1508760"/>
          <a:ext cx="11091672" cy="430987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5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skill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D28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/speckit.constitution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D4ED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speckit-constitution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437"/>
                          </a:solidFill>
                        </a:rPr>
                        <a:t>Establish or update project principles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D28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/speckit.specify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D4ED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speckit-specify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437"/>
                          </a:solidFill>
                        </a:rPr>
                        <a:t>Define requirements and user stories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D28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/speckit.plan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D4ED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speckit-plan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437"/>
                          </a:solidFill>
                        </a:rPr>
                        <a:t>Create the technical implementation plan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D28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/speckit.tasks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D4ED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speckit-tasks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437"/>
                          </a:solidFill>
                        </a:rPr>
                        <a:t>Break the plan into actionable tasks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D28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/speckit.implement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D4ED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speckit-implement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437"/>
                          </a:solidFill>
                        </a:rPr>
                        <a:t>Execute the tasks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D28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/speckit.converge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D4ED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speckit-converge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437"/>
                          </a:solidFill>
                        </a:rPr>
                        <a:t>Assess implementation against the artifacts and append remaining work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D28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/speckit.taskstoissues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D4ED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speckit-taskstoissues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437"/>
                          </a:solidFill>
                        </a:rPr>
                        <a:t>Optionally convert tasks into GitHub issues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D28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/speckit.clarify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D4ED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speckit-clarify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437"/>
                          </a:solidFill>
                        </a:rPr>
                        <a:t>Resolve ambiguity before planning (optional quality gate; </a:t>
                      </a:r>
                      <a:r>
                        <a:rPr lang="en-US" sz="1300" kern="1200" dirty="0">
                          <a:solidFill>
                            <a:srgbClr val="0B1437"/>
                          </a:solidFill>
                          <a:latin typeface="+mn-lt"/>
                          <a:ea typeface="+mn-ea"/>
                          <a:cs typeface="+mn-cs"/>
                        </a:rPr>
                        <a:t>formerly /quizme)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D28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/speckit.analyze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D4ED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speckit-analyze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437"/>
                          </a:solidFill>
                        </a:rPr>
                        <a:t>Check artifact consistency after tasks and before implementation (optional quality gate)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D28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/speckit.checklist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D4ED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speckit-checklist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437"/>
                          </a:solidFill>
                        </a:rPr>
                        <a:t>Generate requirements-quality checklists (optional quality gate)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548640" y="6053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tx2"/>
                </a:solidFill>
              </a:rPr>
              <a:t>Highlighted rows are optional quality gates.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ec Kit Vivid">
  <a:themeElements>
    <a:clrScheme name="Spec Kit Vivid">
      <a:dk1>
        <a:srgbClr val="0B1437"/>
      </a:dk1>
      <a:lt1>
        <a:srgbClr val="FFFFFF"/>
      </a:lt1>
      <a:dk2>
        <a:srgbClr val="475569"/>
      </a:dk2>
      <a:lt2>
        <a:srgbClr val="F1F5FF"/>
      </a:lt2>
      <a:accent1>
        <a:srgbClr val="6D28D9"/>
      </a:accent1>
      <a:accent2>
        <a:srgbClr val="2563EB"/>
      </a:accent2>
      <a:accent3>
        <a:srgbClr val="0891B2"/>
      </a:accent3>
      <a:accent4>
        <a:srgbClr val="059669"/>
      </a:accent4>
      <a:accent5>
        <a:srgbClr val="F59E0B"/>
      </a:accent5>
      <a:accent6>
        <a:srgbClr val="DB2777"/>
      </a:accent6>
      <a:hlink>
        <a:srgbClr val="2563EB"/>
      </a:hlink>
      <a:folHlink>
        <a:srgbClr val="6D28D9"/>
      </a:folHlink>
    </a:clrScheme>
    <a:fontScheme name="Spec Kit Vivid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1086</Words>
  <Application>Microsoft Office PowerPoint</Application>
  <PresentationFormat>Widescreen</PresentationFormat>
  <Paragraphs>246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Spec Kit Vivid</vt:lpstr>
      <vt:lpstr>PowerPoint Presentation</vt:lpstr>
      <vt:lpstr>Software development did not jump directly to agents</vt:lpstr>
      <vt:lpstr>The trap: agentic capability without process</vt:lpstr>
      <vt:lpstr>Vibe coding vs AI-Driven SDLC</vt:lpstr>
      <vt:lpstr>What changes in an AI-Driven SDLC?</vt:lpstr>
      <vt:lpstr>Coding assistant ≠ model ≠ process</vt:lpstr>
      <vt:lpstr>What is a “skill”?</vt:lpstr>
      <vt:lpstr>Skills, slash commands, scripts and tools are different</vt:lpstr>
      <vt:lpstr>So what is GitHub Spec Kit?</vt:lpstr>
      <vt:lpstr>The core Spec-Driven Development lifecycle</vt:lpstr>
      <vt:lpstr>Large products need decomposition before feature-level SDD</vt:lpstr>
      <vt:lpstr>Each artifact answers a different question</vt:lpstr>
      <vt:lpstr>Spec Kit commands and agent skills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AI-Driven SDLC • GitHub Spec Kit</dc:title>
  <dc:subject>PptxGenJS Presentation</dc:subject>
  <dc:creator>PptxGenJS</dc:creator>
  <cp:lastModifiedBy>ASUS</cp:lastModifiedBy>
  <cp:revision>4</cp:revision>
  <dcterms:created xsi:type="dcterms:W3CDTF">2026-10-03T11:53:25Z</dcterms:created>
  <dcterms:modified xsi:type="dcterms:W3CDTF">2026-10-03T11:56:51Z</dcterms:modified>
</cp:coreProperties>
</file>